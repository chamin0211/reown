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46304"/>
            <a:ext cx="566928" cy="438912"/>
          </a:xfrm>
          <a:prstGeom prst="roundRect">
            <a:avLst>
              <a:gd name="adj" fmla="val 16667"/>
            </a:avLst>
          </a:prstGeom>
          <a:solidFill>
            <a:srgbClr val="071C46"/>
          </a:solidFill>
          <a:ln w="12700">
            <a:solidFill>
              <a:srgbClr val="071C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64592" y="224028"/>
            <a:ext cx="56692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155448"/>
            <a:ext cx="57607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71C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입점 및 승인 API 구현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59536" y="539496"/>
            <a:ext cx="7680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6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디자이너 브랜드의 입점 신청을 저장하고, 관리자가 승인/반려 상태를 변경하는 백엔드 API</a:t>
            </a:r>
            <a:endParaRPr lang="en-US" sz="1030" dirty="0"/>
          </a:p>
        </p:txBody>
      </p:sp>
      <p:sp>
        <p:nvSpPr>
          <p:cNvPr id="6" name="Text 4"/>
          <p:cNvSpPr/>
          <p:nvPr/>
        </p:nvSpPr>
        <p:spPr>
          <a:xfrm>
            <a:off x="11301984" y="155448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71C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▦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64592" y="850392"/>
            <a:ext cx="11850624" cy="0"/>
          </a:xfrm>
          <a:prstGeom prst="line">
            <a:avLst/>
          </a:prstGeom>
          <a:noFill/>
          <a:ln w="15240">
            <a:solidFill>
              <a:srgbClr val="D7E2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960120"/>
            <a:ext cx="2834640" cy="5010912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CAD7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960120"/>
            <a:ext cx="2834640" cy="301752"/>
          </a:xfrm>
          <a:prstGeom prst="roundRect">
            <a:avLst>
              <a:gd name="adj" fmla="val 18182"/>
            </a:avLst>
          </a:prstGeom>
          <a:solidFill>
            <a:srgbClr val="071C46"/>
          </a:solidFill>
          <a:ln w="12700">
            <a:solidFill>
              <a:srgbClr val="071C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" y="1019556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경로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" y="1517904"/>
            <a:ext cx="438912" cy="173736"/>
          </a:xfrm>
          <a:prstGeom prst="roundRect">
            <a:avLst>
              <a:gd name="adj" fmla="val 21053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1540764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</a:t>
            </a:r>
            <a:endParaRPr lang="en-US" sz="67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1490472"/>
            <a:ext cx="1993392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6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/api/brands/apply</a:t>
            </a:r>
            <a:endParaRPr lang="en-US" sz="870" dirty="0"/>
          </a:p>
        </p:txBody>
      </p:sp>
      <p:sp>
        <p:nvSpPr>
          <p:cNvPr id="14" name="Text 12"/>
          <p:cNvSpPr txBox="1"/>
          <p:nvPr/>
        </p:nvSpPr>
        <p:spPr>
          <a:xfrm>
            <a:off x="347472" y="1700784"/>
            <a:ext cx="254203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입점 신청 정보를 등록합니다.</a:t>
            </a:r>
            <a:endParaRPr lang="en-US" sz="690" dirty="0"/>
          </a:p>
        </p:txBody>
      </p:sp>
      <p:sp>
        <p:nvSpPr>
          <p:cNvPr id="15" name="Shape 13"/>
          <p:cNvSpPr/>
          <p:nvPr/>
        </p:nvSpPr>
        <p:spPr>
          <a:xfrm>
            <a:off x="338328" y="1965960"/>
            <a:ext cx="2560320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" y="2304288"/>
            <a:ext cx="438912" cy="173736"/>
          </a:xfrm>
          <a:prstGeom prst="roundRect">
            <a:avLst>
              <a:gd name="adj" fmla="val 21053"/>
            </a:avLst>
          </a:prstGeom>
          <a:solidFill>
            <a:srgbClr val="174EA6"/>
          </a:solidFill>
          <a:ln w="12700">
            <a:solidFill>
              <a:srgbClr val="174E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" y="2327148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</a:t>
            </a:r>
            <a:endParaRPr lang="en-US" sz="67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2276856"/>
            <a:ext cx="1993392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6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/api/admin/brands</a:t>
            </a:r>
            <a:endParaRPr lang="en-US" sz="870" dirty="0"/>
          </a:p>
        </p:txBody>
      </p:sp>
      <p:sp>
        <p:nvSpPr>
          <p:cNvPr id="19" name="Text 17"/>
          <p:cNvSpPr txBox="1"/>
          <p:nvPr/>
        </p:nvSpPr>
        <p:spPr>
          <a:xfrm>
            <a:off x="347472" y="2487168"/>
            <a:ext cx="254203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관리자가 브랜드 신청 목록을 조회합니다.</a:t>
            </a:r>
            <a:endParaRPr lang="en-US" sz="690" dirty="0"/>
          </a:p>
          <a:p>
            <a:pPr algn="l" indent="0" marL="0">
              <a:buNone/>
            </a:pPr>
            <a:r>
              <a:rPr lang="en-US" sz="69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?status=PENDING</a:t>
            </a:r>
            <a:endParaRPr lang="en-US" sz="690" dirty="0"/>
          </a:p>
        </p:txBody>
      </p:sp>
      <p:sp>
        <p:nvSpPr>
          <p:cNvPr id="20" name="Shape 18"/>
          <p:cNvSpPr/>
          <p:nvPr/>
        </p:nvSpPr>
        <p:spPr>
          <a:xfrm>
            <a:off x="338328" y="2752344"/>
            <a:ext cx="2560320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" y="3163824"/>
            <a:ext cx="438912" cy="173736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" y="3186684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PATCH</a:t>
            </a:r>
            <a:endParaRPr lang="en-US" sz="67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3136392"/>
            <a:ext cx="1993392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6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/api/admin/brands/{brandId}/approve</a:t>
            </a:r>
            <a:endParaRPr lang="en-US" sz="870" dirty="0"/>
          </a:p>
        </p:txBody>
      </p:sp>
      <p:sp>
        <p:nvSpPr>
          <p:cNvPr id="24" name="Text 22"/>
          <p:cNvSpPr txBox="1"/>
          <p:nvPr/>
        </p:nvSpPr>
        <p:spPr>
          <a:xfrm>
            <a:off x="347472" y="3346704"/>
            <a:ext cx="254203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관리자가 브랜드 입점을 승인합니다.</a:t>
            </a:r>
            <a:endParaRPr lang="en-US" sz="690" dirty="0"/>
          </a:p>
        </p:txBody>
      </p:sp>
      <p:sp>
        <p:nvSpPr>
          <p:cNvPr id="25" name="Shape 23"/>
          <p:cNvSpPr/>
          <p:nvPr/>
        </p:nvSpPr>
        <p:spPr>
          <a:xfrm>
            <a:off x="338328" y="3611880"/>
            <a:ext cx="2560320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328" y="3950208"/>
            <a:ext cx="438912" cy="173736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" y="3973068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PATCH</a:t>
            </a:r>
            <a:endParaRPr lang="en-US" sz="670" dirty="0"/>
          </a:p>
        </p:txBody>
      </p:sp>
      <p:sp>
        <p:nvSpPr>
          <p:cNvPr id="28" name="Text 26"/>
          <p:cNvSpPr txBox="1"/>
          <p:nvPr/>
        </p:nvSpPr>
        <p:spPr>
          <a:xfrm>
            <a:off x="868680" y="3922776"/>
            <a:ext cx="1993392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6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/api/admin/brands/{brandId}/reject</a:t>
            </a:r>
            <a:endParaRPr lang="en-US" sz="870" dirty="0"/>
          </a:p>
        </p:txBody>
      </p:sp>
      <p:sp>
        <p:nvSpPr>
          <p:cNvPr id="29" name="Text 27"/>
          <p:cNvSpPr txBox="1"/>
          <p:nvPr/>
        </p:nvSpPr>
        <p:spPr>
          <a:xfrm>
            <a:off x="347472" y="4133088"/>
            <a:ext cx="254203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관리자가 브랜드 입점을 반려합니다.</a:t>
            </a:r>
            <a:endParaRPr lang="en-US" sz="690" dirty="0"/>
          </a:p>
        </p:txBody>
      </p:sp>
      <p:sp>
        <p:nvSpPr>
          <p:cNvPr id="30" name="Shape 28"/>
          <p:cNvSpPr/>
          <p:nvPr/>
        </p:nvSpPr>
        <p:spPr>
          <a:xfrm>
            <a:off x="338328" y="4398264"/>
            <a:ext cx="2560320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328" y="4873752"/>
            <a:ext cx="2560320" cy="749808"/>
          </a:xfrm>
          <a:prstGeom prst="roundRect">
            <a:avLst>
              <a:gd name="adj" fmla="val 9756"/>
            </a:avLst>
          </a:prstGeom>
          <a:solidFill>
            <a:srgbClr val="F5F9FF"/>
          </a:solidFill>
          <a:ln w="12700">
            <a:solidFill>
              <a:srgbClr val="D7E5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5001768"/>
            <a:ext cx="5943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71C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상태값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1161288" y="5001768"/>
            <a:ext cx="148132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536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PENDING · APPROVED · REJECTED</a:t>
            </a:r>
            <a:endParaRPr lang="en-US" sz="73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5257800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시 salesStatus는 ACTIVE로 변경되고, 반려 시 INACTIVE 상태를 유지합니다.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3154680" y="960120"/>
            <a:ext cx="5705856" cy="5010912"/>
          </a:xfrm>
          <a:prstGeom prst="roundRect">
            <a:avLst>
              <a:gd name="adj" fmla="val 1460"/>
            </a:avLst>
          </a:prstGeom>
          <a:solidFill>
            <a:srgbClr val="FFFFFF"/>
          </a:solidFill>
          <a:ln w="12700">
            <a:solidFill>
              <a:srgbClr val="CAD7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54680" y="960120"/>
            <a:ext cx="5705856" cy="301752"/>
          </a:xfrm>
          <a:prstGeom prst="roundRect">
            <a:avLst>
              <a:gd name="adj" fmla="val 18182"/>
            </a:avLst>
          </a:prstGeom>
          <a:solidFill>
            <a:srgbClr val="071C46"/>
          </a:solidFill>
          <a:ln w="12700">
            <a:solidFill>
              <a:srgbClr val="071C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64408" y="101955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/ 응답 예시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91840" y="1472184"/>
            <a:ext cx="2670048" cy="1490472"/>
          </a:xfrm>
          <a:prstGeom prst="roundRect">
            <a:avLst>
              <a:gd name="adj" fmla="val 3681"/>
            </a:avLst>
          </a:prstGeom>
          <a:solidFill>
            <a:srgbClr val="F8FAFC"/>
          </a:solidFill>
          <a:ln w="12700">
            <a:solidFill>
              <a:srgbClr val="CAD7E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364992" y="1527048"/>
            <a:ext cx="252374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E8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브랜드 입점 신청 Request</a:t>
            </a:r>
            <a:endParaRPr lang="en-US" sz="720" dirty="0"/>
          </a:p>
        </p:txBody>
      </p:sp>
      <p:sp>
        <p:nvSpPr>
          <p:cNvPr id="40" name="Text 38"/>
          <p:cNvSpPr txBox="1"/>
          <p:nvPr/>
        </p:nvSpPr>
        <p:spPr>
          <a:xfrm>
            <a:off x="3364992" y="1728216"/>
            <a:ext cx="2523744" cy="1197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/api/brands/apply</a:t>
            </a:r>
            <a:endParaRPr lang="en-US" sz="700" dirty="0"/>
          </a:p>
          <a:p>
            <a:pPr algn="l" indent="0" marL="0">
              <a:buNone/>
            </a:pP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"ownerUserId": 1,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"brandName": "RE:OWN STUDIO",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"businessNumber": "123-45-67890",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"settlementCycle": "MONTHLY"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099048" y="1472184"/>
            <a:ext cx="2615184" cy="1490472"/>
          </a:xfrm>
          <a:prstGeom prst="roundRect">
            <a:avLst>
              <a:gd name="adj" fmla="val 3681"/>
            </a:avLst>
          </a:prstGeom>
          <a:solidFill>
            <a:srgbClr val="F8FAFC"/>
          </a:solidFill>
          <a:ln w="12700">
            <a:solidFill>
              <a:srgbClr val="CAD7E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172200" y="1527048"/>
            <a:ext cx="246888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E8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신청 Response</a:t>
            </a:r>
            <a:endParaRPr lang="en-US" sz="720" dirty="0"/>
          </a:p>
        </p:txBody>
      </p:sp>
      <p:sp>
        <p:nvSpPr>
          <p:cNvPr id="43" name="Text 41"/>
          <p:cNvSpPr txBox="1"/>
          <p:nvPr/>
        </p:nvSpPr>
        <p:spPr>
          <a:xfrm>
            <a:off x="6172200" y="1728216"/>
            <a:ext cx="2468880" cy="1197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"brandId": 1,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"brandName": "RE:OWN STUDIO",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"salesStatus": "INACTIVE",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"status": "PENDING"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3291840" y="3136392"/>
            <a:ext cx="2670048" cy="1371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CAD7E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364992" y="3191256"/>
            <a:ext cx="252374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E8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관리자 목록 조회 Response</a:t>
            </a:r>
            <a:endParaRPr lang="en-US" sz="720" dirty="0"/>
          </a:p>
        </p:txBody>
      </p:sp>
      <p:sp>
        <p:nvSpPr>
          <p:cNvPr id="46" name="Text 44"/>
          <p:cNvSpPr txBox="1"/>
          <p:nvPr/>
        </p:nvSpPr>
        <p:spPr>
          <a:xfrm>
            <a:off x="3364992" y="3392424"/>
            <a:ext cx="2523744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/api/admin/brands?status=PENDING</a:t>
            </a:r>
            <a:endParaRPr lang="en-US" sz="700" dirty="0"/>
          </a:p>
          <a:p>
            <a:pPr algn="l" indent="0" marL="0">
              <a:buNone/>
            </a:pP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{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"brandId": 1,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"brandName": "RE:OWN STUDIO",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"status": "PENDING"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}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099048" y="3136392"/>
            <a:ext cx="2615184" cy="1371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CAD7E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172200" y="3191256"/>
            <a:ext cx="246888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E8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브랜드 승인 Response</a:t>
            </a:r>
            <a:endParaRPr lang="en-US" sz="720" dirty="0"/>
          </a:p>
        </p:txBody>
      </p:sp>
      <p:sp>
        <p:nvSpPr>
          <p:cNvPr id="49" name="Text 47"/>
          <p:cNvSpPr txBox="1"/>
          <p:nvPr/>
        </p:nvSpPr>
        <p:spPr>
          <a:xfrm>
            <a:off x="6172200" y="3392424"/>
            <a:ext cx="246888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/api/admin/brands/1/approve</a:t>
            </a:r>
            <a:endParaRPr lang="en-US" sz="700" dirty="0"/>
          </a:p>
          <a:p>
            <a:pPr algn="l" indent="0" marL="0">
              <a:buNone/>
            </a:pP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"brandId": 1,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"brandName": "RE:OWN STUDIO",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"salesStatus": "ACTIVE",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"status": "APPROVED"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3291840" y="4736592"/>
            <a:ext cx="5422392" cy="676656"/>
          </a:xfrm>
          <a:prstGeom prst="roundRect">
            <a:avLst>
              <a:gd name="adj" fmla="val 9459"/>
            </a:avLst>
          </a:prstGeom>
          <a:solidFill>
            <a:srgbClr val="F8FBF8"/>
          </a:solidFill>
          <a:ln w="12700">
            <a:solidFill>
              <a:srgbClr val="CEEAD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447288" y="4882896"/>
            <a:ext cx="7315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8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순서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4233672" y="4882896"/>
            <a:ext cx="4224528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6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입점 신청 저장  →  관리자 목록 조회  →  승인/반려 처리  →  상태값 및 판매 가능 여부 변경</a:t>
            </a:r>
            <a:endParaRPr lang="en-US" sz="750" dirty="0"/>
          </a:p>
        </p:txBody>
      </p:sp>
      <p:sp>
        <p:nvSpPr>
          <p:cNvPr id="53" name="Text 51"/>
          <p:cNvSpPr txBox="1"/>
          <p:nvPr/>
        </p:nvSpPr>
        <p:spPr>
          <a:xfrm>
            <a:off x="3447288" y="5166360"/>
            <a:ext cx="49377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Controller: BrandController   Service: BrandService   Table: partner_brand</a:t>
            </a:r>
            <a:endParaRPr lang="en-US" sz="690" dirty="0"/>
          </a:p>
        </p:txBody>
      </p:sp>
      <p:sp>
        <p:nvSpPr>
          <p:cNvPr id="54" name="Shape 52"/>
          <p:cNvSpPr/>
          <p:nvPr/>
        </p:nvSpPr>
        <p:spPr>
          <a:xfrm>
            <a:off x="8997696" y="960120"/>
            <a:ext cx="2990088" cy="5010912"/>
          </a:xfrm>
          <a:prstGeom prst="roundRect">
            <a:avLst>
              <a:gd name="adj" fmla="val 2446"/>
            </a:avLst>
          </a:prstGeom>
          <a:solidFill>
            <a:srgbClr val="FFFFFF"/>
          </a:solidFill>
          <a:ln w="12700">
            <a:solidFill>
              <a:srgbClr val="CAD7E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997696" y="960120"/>
            <a:ext cx="2990088" cy="301752"/>
          </a:xfrm>
          <a:prstGeom prst="roundRect">
            <a:avLst>
              <a:gd name="adj" fmla="val 18182"/>
            </a:avLst>
          </a:prstGeom>
          <a:solidFill>
            <a:srgbClr val="071C46"/>
          </a:solidFill>
          <a:ln w="12700">
            <a:solidFill>
              <a:srgbClr val="071C4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07424" y="1019556"/>
            <a:ext cx="2770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입점 상태 흐름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9884664" y="1709928"/>
            <a:ext cx="1225296" cy="493776"/>
          </a:xfrm>
          <a:prstGeom prst="roundRect">
            <a:avLst>
              <a:gd name="adj" fmla="val 14815"/>
            </a:avLst>
          </a:prstGeom>
          <a:solidFill>
            <a:srgbClr val="FFF3D9"/>
          </a:solidFill>
          <a:ln w="15240">
            <a:solidFill>
              <a:srgbClr val="F6B849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930384" y="1819656"/>
            <a:ext cx="11338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4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PENDING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9930384" y="1993392"/>
            <a:ext cx="113385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7A4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 대기</a:t>
            </a:r>
            <a:endParaRPr lang="en-US" sz="630" dirty="0"/>
          </a:p>
        </p:txBody>
      </p:sp>
      <p:sp>
        <p:nvSpPr>
          <p:cNvPr id="60" name="Shape 58"/>
          <p:cNvSpPr/>
          <p:nvPr/>
        </p:nvSpPr>
        <p:spPr>
          <a:xfrm>
            <a:off x="10497312" y="2258568"/>
            <a:ext cx="0" cy="402336"/>
          </a:xfrm>
          <a:prstGeom prst="line">
            <a:avLst/>
          </a:prstGeom>
          <a:noFill/>
          <a:ln w="19050">
            <a:solidFill>
              <a:srgbClr val="071C46"/>
            </a:solidFill>
            <a:prstDash val="solid"/>
            <a:headEnd type="none"/>
            <a:tailEnd type="triangle"/>
          </a:ln>
        </p:spPr>
      </p:sp>
      <p:sp>
        <p:nvSpPr>
          <p:cNvPr id="61" name="Text 59"/>
          <p:cNvSpPr txBox="1"/>
          <p:nvPr/>
        </p:nvSpPr>
        <p:spPr>
          <a:xfrm>
            <a:off x="10021824" y="2697480"/>
            <a:ext cx="9601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검토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10497312" y="2898648"/>
            <a:ext cx="-713232" cy="457200"/>
          </a:xfrm>
          <a:prstGeom prst="line">
            <a:avLst/>
          </a:prstGeom>
          <a:noFill/>
          <a:ln w="16510">
            <a:solidFill>
              <a:srgbClr val="071C46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10497312" y="2898648"/>
            <a:ext cx="713232" cy="457200"/>
          </a:xfrm>
          <a:prstGeom prst="line">
            <a:avLst/>
          </a:prstGeom>
          <a:noFill/>
          <a:ln w="16510">
            <a:solidFill>
              <a:srgbClr val="071C46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9235440" y="3410712"/>
            <a:ext cx="1225296" cy="493776"/>
          </a:xfrm>
          <a:prstGeom prst="roundRect">
            <a:avLst>
              <a:gd name="adj" fmla="val 14815"/>
            </a:avLst>
          </a:prstGeom>
          <a:solidFill>
            <a:srgbClr val="EAF7EF"/>
          </a:solidFill>
          <a:ln w="15240">
            <a:solidFill>
              <a:srgbClr val="6CC28A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9281160" y="3520440"/>
            <a:ext cx="11338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6F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APPROVED</a:t>
            </a:r>
            <a:endParaRPr lang="en-US" sz="900" dirty="0"/>
          </a:p>
        </p:txBody>
      </p:sp>
      <p:sp>
        <p:nvSpPr>
          <p:cNvPr id="66" name="Text 64"/>
          <p:cNvSpPr txBox="1"/>
          <p:nvPr/>
        </p:nvSpPr>
        <p:spPr>
          <a:xfrm>
            <a:off x="9281160" y="3694176"/>
            <a:ext cx="113385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B6F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</a:t>
            </a:r>
            <a:endParaRPr lang="en-US" sz="630" dirty="0"/>
          </a:p>
        </p:txBody>
      </p:sp>
      <p:sp>
        <p:nvSpPr>
          <p:cNvPr id="67" name="Shape 65"/>
          <p:cNvSpPr/>
          <p:nvPr/>
        </p:nvSpPr>
        <p:spPr>
          <a:xfrm>
            <a:off x="10570464" y="3410712"/>
            <a:ext cx="1225296" cy="493776"/>
          </a:xfrm>
          <a:prstGeom prst="roundRect">
            <a:avLst>
              <a:gd name="adj" fmla="val 14815"/>
            </a:avLst>
          </a:prstGeom>
          <a:solidFill>
            <a:srgbClr val="FCECEC"/>
          </a:solidFill>
          <a:ln w="15240">
            <a:solidFill>
              <a:srgbClr val="EA7A7A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0616184" y="3520440"/>
            <a:ext cx="11338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25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REJECTED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10616184" y="3694176"/>
            <a:ext cx="113385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A425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</a:t>
            </a:r>
            <a:endParaRPr lang="en-US" sz="630" dirty="0"/>
          </a:p>
        </p:txBody>
      </p:sp>
      <p:sp>
        <p:nvSpPr>
          <p:cNvPr id="70" name="Shape 68"/>
          <p:cNvSpPr/>
          <p:nvPr/>
        </p:nvSpPr>
        <p:spPr>
          <a:xfrm>
            <a:off x="9848088" y="3931920"/>
            <a:ext cx="0" cy="347472"/>
          </a:xfrm>
          <a:prstGeom prst="line">
            <a:avLst/>
          </a:prstGeom>
          <a:noFill/>
          <a:ln w="16510">
            <a:solidFill>
              <a:srgbClr val="2E8B57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11183112" y="3931920"/>
            <a:ext cx="0" cy="347472"/>
          </a:xfrm>
          <a:prstGeom prst="line">
            <a:avLst/>
          </a:prstGeom>
          <a:noFill/>
          <a:ln w="16510">
            <a:solidFill>
              <a:srgbClr val="D64545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9235440" y="4325112"/>
            <a:ext cx="1225296" cy="493776"/>
          </a:xfrm>
          <a:prstGeom prst="roundRect">
            <a:avLst>
              <a:gd name="adj" fmla="val 14815"/>
            </a:avLst>
          </a:prstGeom>
          <a:solidFill>
            <a:srgbClr val="F2FBF6"/>
          </a:solidFill>
          <a:ln w="15240">
            <a:solidFill>
              <a:srgbClr val="6CC28A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9281160" y="4434840"/>
            <a:ext cx="11338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6F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ACTIVE</a:t>
            </a:r>
            <a:endParaRPr lang="en-US" sz="900" dirty="0"/>
          </a:p>
        </p:txBody>
      </p:sp>
      <p:sp>
        <p:nvSpPr>
          <p:cNvPr id="74" name="Text 72"/>
          <p:cNvSpPr txBox="1"/>
          <p:nvPr/>
        </p:nvSpPr>
        <p:spPr>
          <a:xfrm>
            <a:off x="9281160" y="4608576"/>
            <a:ext cx="113385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B6F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가능</a:t>
            </a:r>
            <a:endParaRPr lang="en-US" sz="630" dirty="0"/>
          </a:p>
        </p:txBody>
      </p:sp>
      <p:sp>
        <p:nvSpPr>
          <p:cNvPr id="75" name="Shape 73"/>
          <p:cNvSpPr/>
          <p:nvPr/>
        </p:nvSpPr>
        <p:spPr>
          <a:xfrm>
            <a:off x="10570464" y="4325112"/>
            <a:ext cx="1225296" cy="493776"/>
          </a:xfrm>
          <a:prstGeom prst="roundRect">
            <a:avLst>
              <a:gd name="adj" fmla="val 14815"/>
            </a:avLst>
          </a:prstGeom>
          <a:solidFill>
            <a:srgbClr val="FFF5F5"/>
          </a:solidFill>
          <a:ln w="15240">
            <a:solidFill>
              <a:srgbClr val="EA7A7A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10616184" y="4434840"/>
            <a:ext cx="11338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25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INACTIVE</a:t>
            </a:r>
            <a:endParaRPr lang="en-US" sz="900" dirty="0"/>
          </a:p>
        </p:txBody>
      </p:sp>
      <p:sp>
        <p:nvSpPr>
          <p:cNvPr id="77" name="Text 75"/>
          <p:cNvSpPr txBox="1"/>
          <p:nvPr/>
        </p:nvSpPr>
        <p:spPr>
          <a:xfrm>
            <a:off x="10616184" y="4608576"/>
            <a:ext cx="113385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A425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입점 불가</a:t>
            </a:r>
            <a:endParaRPr lang="en-US" sz="630" dirty="0"/>
          </a:p>
        </p:txBody>
      </p:sp>
      <p:sp>
        <p:nvSpPr>
          <p:cNvPr id="78" name="Shape 76"/>
          <p:cNvSpPr/>
          <p:nvPr/>
        </p:nvSpPr>
        <p:spPr>
          <a:xfrm>
            <a:off x="9198864" y="5184648"/>
            <a:ext cx="2587752" cy="438912"/>
          </a:xfrm>
          <a:prstGeom prst="roundRect">
            <a:avLst>
              <a:gd name="adj" fmla="val 12500"/>
            </a:avLst>
          </a:prstGeom>
          <a:solidFill>
            <a:srgbClr val="F5F9FF"/>
          </a:solidFill>
          <a:ln w="12700">
            <a:solidFill>
              <a:srgbClr val="D7E5F8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9326880" y="5330952"/>
            <a:ext cx="224028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071C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APPROVED 상태의 브랜드만 상품 등록·판매 흐름으로 연결</a:t>
            </a:r>
            <a:endParaRPr lang="en-US" sz="710" dirty="0"/>
          </a:p>
        </p:txBody>
      </p:sp>
      <p:sp>
        <p:nvSpPr>
          <p:cNvPr id="80" name="Shape 78"/>
          <p:cNvSpPr/>
          <p:nvPr/>
        </p:nvSpPr>
        <p:spPr>
          <a:xfrm>
            <a:off x="201168" y="5998464"/>
            <a:ext cx="11786616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CAD7E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01168" y="5998464"/>
            <a:ext cx="11786616" cy="201168"/>
          </a:xfrm>
          <a:prstGeom prst="rect">
            <a:avLst/>
          </a:prstGeom>
          <a:solidFill>
            <a:srgbClr val="071C46"/>
          </a:solidFill>
          <a:ln w="12700">
            <a:solidFill>
              <a:srgbClr val="071C46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310896" y="6048756"/>
            <a:ext cx="256032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반영 예시  |  partner_brand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274320" y="6272784"/>
            <a:ext cx="685800" cy="137160"/>
          </a:xfrm>
          <a:prstGeom prst="rect">
            <a:avLst/>
          </a:prstGeom>
          <a:solidFill>
            <a:srgbClr val="F2F6FA"/>
          </a:solidFill>
          <a:ln w="6350">
            <a:solidFill>
              <a:srgbClr val="D7E2EF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292608" y="6295644"/>
            <a:ext cx="649224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536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brand_id</a:t>
            </a:r>
            <a:endParaRPr lang="en-US" sz="530" dirty="0"/>
          </a:p>
        </p:txBody>
      </p:sp>
      <p:sp>
        <p:nvSpPr>
          <p:cNvPr id="85" name="Shape 83"/>
          <p:cNvSpPr/>
          <p:nvPr/>
        </p:nvSpPr>
        <p:spPr>
          <a:xfrm>
            <a:off x="960120" y="6272784"/>
            <a:ext cx="868680" cy="137160"/>
          </a:xfrm>
          <a:prstGeom prst="rect">
            <a:avLst/>
          </a:prstGeom>
          <a:solidFill>
            <a:srgbClr val="F2F6FA"/>
          </a:solidFill>
          <a:ln w="6350">
            <a:solidFill>
              <a:srgbClr val="D7E2EF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978408" y="6295644"/>
            <a:ext cx="832104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536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owner_user_id</a:t>
            </a:r>
            <a:endParaRPr lang="en-US" sz="530" dirty="0"/>
          </a:p>
        </p:txBody>
      </p:sp>
      <p:sp>
        <p:nvSpPr>
          <p:cNvPr id="87" name="Shape 85"/>
          <p:cNvSpPr/>
          <p:nvPr/>
        </p:nvSpPr>
        <p:spPr>
          <a:xfrm>
            <a:off x="1828800" y="6272784"/>
            <a:ext cx="2148840" cy="137160"/>
          </a:xfrm>
          <a:prstGeom prst="rect">
            <a:avLst/>
          </a:prstGeom>
          <a:solidFill>
            <a:srgbClr val="F2F6FA"/>
          </a:solidFill>
          <a:ln w="6350">
            <a:solidFill>
              <a:srgbClr val="D7E2EF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1847088" y="6295644"/>
            <a:ext cx="2112264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536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brand_name</a:t>
            </a:r>
            <a:endParaRPr lang="en-US" sz="530" dirty="0"/>
          </a:p>
        </p:txBody>
      </p:sp>
      <p:sp>
        <p:nvSpPr>
          <p:cNvPr id="89" name="Shape 87"/>
          <p:cNvSpPr/>
          <p:nvPr/>
        </p:nvSpPr>
        <p:spPr>
          <a:xfrm>
            <a:off x="3977640" y="6272784"/>
            <a:ext cx="1645920" cy="137160"/>
          </a:xfrm>
          <a:prstGeom prst="rect">
            <a:avLst/>
          </a:prstGeom>
          <a:solidFill>
            <a:srgbClr val="F2F6FA"/>
          </a:solidFill>
          <a:ln w="6350">
            <a:solidFill>
              <a:srgbClr val="D7E2EF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3995928" y="6295644"/>
            <a:ext cx="1609344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536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business_number</a:t>
            </a:r>
            <a:endParaRPr lang="en-US" sz="530" dirty="0"/>
          </a:p>
        </p:txBody>
      </p:sp>
      <p:sp>
        <p:nvSpPr>
          <p:cNvPr id="91" name="Shape 89"/>
          <p:cNvSpPr/>
          <p:nvPr/>
        </p:nvSpPr>
        <p:spPr>
          <a:xfrm>
            <a:off x="5623560" y="6272784"/>
            <a:ext cx="1234440" cy="137160"/>
          </a:xfrm>
          <a:prstGeom prst="rect">
            <a:avLst/>
          </a:prstGeom>
          <a:solidFill>
            <a:srgbClr val="F2F6FA"/>
          </a:solidFill>
          <a:ln w="6350">
            <a:solidFill>
              <a:srgbClr val="D7E2EF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5641848" y="6295644"/>
            <a:ext cx="1197864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536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sales_status</a:t>
            </a:r>
            <a:endParaRPr lang="en-US" sz="530" dirty="0"/>
          </a:p>
        </p:txBody>
      </p:sp>
      <p:sp>
        <p:nvSpPr>
          <p:cNvPr id="93" name="Shape 91"/>
          <p:cNvSpPr/>
          <p:nvPr/>
        </p:nvSpPr>
        <p:spPr>
          <a:xfrm>
            <a:off x="6858000" y="6272784"/>
            <a:ext cx="1234440" cy="137160"/>
          </a:xfrm>
          <a:prstGeom prst="rect">
            <a:avLst/>
          </a:prstGeom>
          <a:solidFill>
            <a:srgbClr val="F2F6FA"/>
          </a:solidFill>
          <a:ln w="6350">
            <a:solidFill>
              <a:srgbClr val="D7E2EF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6876288" y="6295644"/>
            <a:ext cx="1197864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536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settlement_cycle</a:t>
            </a:r>
            <a:endParaRPr lang="en-US" sz="530" dirty="0"/>
          </a:p>
        </p:txBody>
      </p:sp>
      <p:sp>
        <p:nvSpPr>
          <p:cNvPr id="95" name="Shape 93"/>
          <p:cNvSpPr/>
          <p:nvPr/>
        </p:nvSpPr>
        <p:spPr>
          <a:xfrm>
            <a:off x="8092440" y="6272784"/>
            <a:ext cx="1143000" cy="137160"/>
          </a:xfrm>
          <a:prstGeom prst="rect">
            <a:avLst/>
          </a:prstGeom>
          <a:solidFill>
            <a:srgbClr val="F2F6FA"/>
          </a:solidFill>
          <a:ln w="6350">
            <a:solidFill>
              <a:srgbClr val="D7E2EF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8110728" y="6295644"/>
            <a:ext cx="1106424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536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</a:t>
            </a:r>
            <a:endParaRPr lang="en-US" sz="530" dirty="0"/>
          </a:p>
        </p:txBody>
      </p:sp>
      <p:sp>
        <p:nvSpPr>
          <p:cNvPr id="97" name="Shape 95"/>
          <p:cNvSpPr/>
          <p:nvPr/>
        </p:nvSpPr>
        <p:spPr>
          <a:xfrm>
            <a:off x="274320" y="6409944"/>
            <a:ext cx="685800" cy="137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F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292608" y="6430061"/>
            <a:ext cx="649224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16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50" dirty="0"/>
          </a:p>
        </p:txBody>
      </p:sp>
      <p:sp>
        <p:nvSpPr>
          <p:cNvPr id="99" name="Shape 97"/>
          <p:cNvSpPr/>
          <p:nvPr/>
        </p:nvSpPr>
        <p:spPr>
          <a:xfrm>
            <a:off x="960120" y="6409944"/>
            <a:ext cx="868680" cy="137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F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978408" y="6430061"/>
            <a:ext cx="832104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16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50" dirty="0"/>
          </a:p>
        </p:txBody>
      </p:sp>
      <p:sp>
        <p:nvSpPr>
          <p:cNvPr id="101" name="Shape 99"/>
          <p:cNvSpPr/>
          <p:nvPr/>
        </p:nvSpPr>
        <p:spPr>
          <a:xfrm>
            <a:off x="1828800" y="6409944"/>
            <a:ext cx="2148840" cy="137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F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1847088" y="6430061"/>
            <a:ext cx="2112264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16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RE:OWN STUDIO</a:t>
            </a:r>
            <a:endParaRPr lang="en-US" sz="550" dirty="0"/>
          </a:p>
        </p:txBody>
      </p:sp>
      <p:sp>
        <p:nvSpPr>
          <p:cNvPr id="103" name="Shape 101"/>
          <p:cNvSpPr/>
          <p:nvPr/>
        </p:nvSpPr>
        <p:spPr>
          <a:xfrm>
            <a:off x="3977640" y="6409944"/>
            <a:ext cx="1645920" cy="137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F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3995928" y="6430061"/>
            <a:ext cx="1609344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16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123-45-67890</a:t>
            </a:r>
            <a:endParaRPr lang="en-US" sz="550" dirty="0"/>
          </a:p>
        </p:txBody>
      </p:sp>
      <p:sp>
        <p:nvSpPr>
          <p:cNvPr id="105" name="Shape 103"/>
          <p:cNvSpPr/>
          <p:nvPr/>
        </p:nvSpPr>
        <p:spPr>
          <a:xfrm>
            <a:off x="5623560" y="6409944"/>
            <a:ext cx="1234440" cy="137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F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5641848" y="6430061"/>
            <a:ext cx="1197864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16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INACTIVE</a:t>
            </a:r>
            <a:endParaRPr lang="en-US" sz="550" dirty="0"/>
          </a:p>
        </p:txBody>
      </p:sp>
      <p:sp>
        <p:nvSpPr>
          <p:cNvPr id="107" name="Shape 105"/>
          <p:cNvSpPr/>
          <p:nvPr/>
        </p:nvSpPr>
        <p:spPr>
          <a:xfrm>
            <a:off x="6858000" y="6409944"/>
            <a:ext cx="1234440" cy="137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F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6876288" y="6430061"/>
            <a:ext cx="1197864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16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MONTHLY</a:t>
            </a:r>
            <a:endParaRPr lang="en-US" sz="550" dirty="0"/>
          </a:p>
        </p:txBody>
      </p:sp>
      <p:sp>
        <p:nvSpPr>
          <p:cNvPr id="109" name="Shape 107"/>
          <p:cNvSpPr/>
          <p:nvPr/>
        </p:nvSpPr>
        <p:spPr>
          <a:xfrm>
            <a:off x="8092440" y="6409944"/>
            <a:ext cx="1143000" cy="137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F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8110728" y="6430061"/>
            <a:ext cx="1106424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16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PENDING</a:t>
            </a:r>
            <a:endParaRPr lang="en-US" sz="550" dirty="0"/>
          </a:p>
        </p:txBody>
      </p:sp>
      <p:sp>
        <p:nvSpPr>
          <p:cNvPr id="111" name="Shape 109"/>
          <p:cNvSpPr/>
          <p:nvPr/>
        </p:nvSpPr>
        <p:spPr>
          <a:xfrm>
            <a:off x="274320" y="6547104"/>
            <a:ext cx="685800" cy="137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F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292608" y="6567221"/>
            <a:ext cx="649224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16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50" dirty="0"/>
          </a:p>
        </p:txBody>
      </p:sp>
      <p:sp>
        <p:nvSpPr>
          <p:cNvPr id="113" name="Shape 111"/>
          <p:cNvSpPr/>
          <p:nvPr/>
        </p:nvSpPr>
        <p:spPr>
          <a:xfrm>
            <a:off x="960120" y="6547104"/>
            <a:ext cx="868680" cy="137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F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978408" y="6567221"/>
            <a:ext cx="832104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16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50" dirty="0"/>
          </a:p>
        </p:txBody>
      </p:sp>
      <p:sp>
        <p:nvSpPr>
          <p:cNvPr id="115" name="Shape 113"/>
          <p:cNvSpPr/>
          <p:nvPr/>
        </p:nvSpPr>
        <p:spPr>
          <a:xfrm>
            <a:off x="1828800" y="6547104"/>
            <a:ext cx="2148840" cy="137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F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1847088" y="6567221"/>
            <a:ext cx="2112264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16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MINIMAL BRAND</a:t>
            </a:r>
            <a:endParaRPr lang="en-US" sz="550" dirty="0"/>
          </a:p>
        </p:txBody>
      </p:sp>
      <p:sp>
        <p:nvSpPr>
          <p:cNvPr id="117" name="Shape 115"/>
          <p:cNvSpPr/>
          <p:nvPr/>
        </p:nvSpPr>
        <p:spPr>
          <a:xfrm>
            <a:off x="3977640" y="6547104"/>
            <a:ext cx="1645920" cy="137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F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3995928" y="6567221"/>
            <a:ext cx="1609344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16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987-65-43210</a:t>
            </a:r>
            <a:endParaRPr lang="en-US" sz="550" dirty="0"/>
          </a:p>
        </p:txBody>
      </p:sp>
      <p:sp>
        <p:nvSpPr>
          <p:cNvPr id="119" name="Shape 117"/>
          <p:cNvSpPr/>
          <p:nvPr/>
        </p:nvSpPr>
        <p:spPr>
          <a:xfrm>
            <a:off x="5623560" y="6547104"/>
            <a:ext cx="1234440" cy="137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F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5641848" y="6567221"/>
            <a:ext cx="1197864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16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ACTIVE</a:t>
            </a:r>
            <a:endParaRPr lang="en-US" sz="550" dirty="0"/>
          </a:p>
        </p:txBody>
      </p:sp>
      <p:sp>
        <p:nvSpPr>
          <p:cNvPr id="121" name="Shape 119"/>
          <p:cNvSpPr/>
          <p:nvPr/>
        </p:nvSpPr>
        <p:spPr>
          <a:xfrm>
            <a:off x="6858000" y="6547104"/>
            <a:ext cx="1234440" cy="137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F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6876288" y="6567221"/>
            <a:ext cx="1197864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16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MONTHLY</a:t>
            </a:r>
            <a:endParaRPr lang="en-US" sz="550" dirty="0"/>
          </a:p>
        </p:txBody>
      </p:sp>
      <p:sp>
        <p:nvSpPr>
          <p:cNvPr id="123" name="Shape 121"/>
          <p:cNvSpPr/>
          <p:nvPr/>
        </p:nvSpPr>
        <p:spPr>
          <a:xfrm>
            <a:off x="8092440" y="6547104"/>
            <a:ext cx="1143000" cy="137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F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8110728" y="6567221"/>
            <a:ext cx="1106424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16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APPROVED</a:t>
            </a:r>
            <a:endParaRPr lang="en-US" sz="550" dirty="0"/>
          </a:p>
        </p:txBody>
      </p:sp>
      <p:sp>
        <p:nvSpPr>
          <p:cNvPr id="125" name="Text 123"/>
          <p:cNvSpPr/>
          <p:nvPr/>
        </p:nvSpPr>
        <p:spPr>
          <a:xfrm>
            <a:off x="10195560" y="6748272"/>
            <a:ext cx="16916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9AA8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RE:OWN Backend Implementation</a:t>
            </a:r>
            <a:endParaRPr lang="en-US" sz="5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RE:OWN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브랜드 입점 및 승인 API 구현</dc:title>
  <dc:subject>RE:OWN 브랜드 입점 및 승인 API 구현</dc:subject>
  <dc:creator>OpenAI</dc:creator>
  <cp:lastModifiedBy>OpenAI</cp:lastModifiedBy>
  <cp:revision>1</cp:revision>
  <dcterms:created xsi:type="dcterms:W3CDTF">2026-05-04T01:35:00Z</dcterms:created>
  <dcterms:modified xsi:type="dcterms:W3CDTF">2026-05-04T01:35:00Z</dcterms:modified>
</cp:coreProperties>
</file>